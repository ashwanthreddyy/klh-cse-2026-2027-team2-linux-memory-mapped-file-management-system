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team and the guide. This is the Batch 2 project of the OSSP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agenda: concept, existing vs proposed, design, implementation, results,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on the left; the six objectives on the right. Stress that every objective was verified with real load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on the left, the problem statement highlighted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families of existing solutions; each leaves a gap the proposed system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features. Emphasise state-change alerting: one alert per incident rather than one per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diagram top to bottom: administrator, engine, threshold checker, four monitors, kernel data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Six-step sampling loop, then the alert state machine that decides when to print ALERT and RECOVERED.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Developed and tested on Ubuntu 24.04. Runs on any recent Linux or WSL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Formulas come from differences of two readings. The right-hand box shows real alert lines captured from a test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were captured on the development machine (Ubuntu 24.04, 2 vCPUs, 8 GB). Replace with the team's own screenshots. Demo steps are in Chapter 7.5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learning outcomes. Fill the GitHub link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assets/dots.jpe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../assets/klh_logo_p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126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assets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../assets/klh_logo_p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1264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(25CS2104E)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28800"/>
            <a:ext cx="10543032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Resource Alert and Notification System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971800"/>
            <a:ext cx="1054303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CPU, memory, disk and process usage with threshold-based alerts on Linux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1109167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|  Batch 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11091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07408"/>
            <a:ext cx="11091672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2520030081 — S. Ashwanth Reddy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2520030518 — P. Naveen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2520030280 — CH. Nripendra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440680"/>
            <a:ext cx="110916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Soumya Enukonda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2400" dirty="0"/>
          </a:p>
        </p:txBody>
      </p:sp>
      <p:sp>
        <p:nvSpPr>
          <p:cNvPr id="4" name="num1"/>
          <p:cNvSpPr/>
          <p:nvPr/>
        </p:nvSpPr>
        <p:spPr>
          <a:xfrm>
            <a:off x="2377440" y="1600200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3774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600200"/>
            <a:ext cx="4023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and Objectives</a:t>
            </a:r>
            <a:endParaRPr lang="en-US" sz="1700" dirty="0"/>
          </a:p>
        </p:txBody>
      </p:sp>
      <p:sp>
        <p:nvSpPr>
          <p:cNvPr id="7" name="num2"/>
          <p:cNvSpPr/>
          <p:nvPr/>
        </p:nvSpPr>
        <p:spPr>
          <a:xfrm>
            <a:off x="2377440" y="2496312"/>
            <a:ext cx="502920" cy="502920"/>
          </a:xfrm>
          <a:prstGeom prst="ellipse">
            <a:avLst/>
          </a:prstGeom>
          <a:solidFill>
            <a:srgbClr val="8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7744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496312"/>
            <a:ext cx="4023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Problem Statement</a:t>
            </a:r>
            <a:endParaRPr lang="en-US" sz="1700" dirty="0"/>
          </a:p>
        </p:txBody>
      </p:sp>
      <p:sp>
        <p:nvSpPr>
          <p:cNvPr id="10" name="num3"/>
          <p:cNvSpPr/>
          <p:nvPr/>
        </p:nvSpPr>
        <p:spPr>
          <a:xfrm>
            <a:off x="2377440" y="3392424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7744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3392424"/>
            <a:ext cx="4023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and Limitations</a:t>
            </a:r>
            <a:endParaRPr lang="en-US" sz="1700" dirty="0"/>
          </a:p>
        </p:txBody>
      </p:sp>
      <p:sp>
        <p:nvSpPr>
          <p:cNvPr id="13" name="num4"/>
          <p:cNvSpPr/>
          <p:nvPr/>
        </p:nvSpPr>
        <p:spPr>
          <a:xfrm>
            <a:off x="2377440" y="4288536"/>
            <a:ext cx="502920" cy="502920"/>
          </a:xfrm>
          <a:prstGeom prst="ellipse">
            <a:avLst/>
          </a:prstGeom>
          <a:solidFill>
            <a:srgbClr val="8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7744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4288536"/>
            <a:ext cx="4023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and Features</a:t>
            </a:r>
            <a:endParaRPr lang="en-US" sz="1700" dirty="0"/>
          </a:p>
        </p:txBody>
      </p:sp>
      <p:sp>
        <p:nvSpPr>
          <p:cNvPr id="16" name="num5"/>
          <p:cNvSpPr/>
          <p:nvPr/>
        </p:nvSpPr>
        <p:spPr>
          <a:xfrm>
            <a:off x="2377440" y="5184648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37744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017520" y="5184648"/>
            <a:ext cx="4023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19" name="num6"/>
          <p:cNvSpPr/>
          <p:nvPr/>
        </p:nvSpPr>
        <p:spPr>
          <a:xfrm>
            <a:off x="7223760" y="1600200"/>
            <a:ext cx="502920" cy="502920"/>
          </a:xfrm>
          <a:prstGeom prst="ellipse">
            <a:avLst/>
          </a:prstGeom>
          <a:solidFill>
            <a:srgbClr val="8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237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1600200"/>
            <a:ext cx="4023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Flowchart</a:t>
            </a:r>
            <a:endParaRPr lang="en-US" sz="1700" dirty="0"/>
          </a:p>
        </p:txBody>
      </p:sp>
      <p:sp>
        <p:nvSpPr>
          <p:cNvPr id="22" name="num7"/>
          <p:cNvSpPr/>
          <p:nvPr/>
        </p:nvSpPr>
        <p:spPr>
          <a:xfrm>
            <a:off x="7223760" y="2496312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2376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2496312"/>
            <a:ext cx="4023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and Technologies</a:t>
            </a:r>
            <a:endParaRPr lang="en-US" sz="1700" dirty="0"/>
          </a:p>
        </p:txBody>
      </p:sp>
      <p:sp>
        <p:nvSpPr>
          <p:cNvPr id="25" name="num8"/>
          <p:cNvSpPr/>
          <p:nvPr/>
        </p:nvSpPr>
        <p:spPr>
          <a:xfrm>
            <a:off x="7223760" y="3392424"/>
            <a:ext cx="502920" cy="502920"/>
          </a:xfrm>
          <a:prstGeom prst="ellipse">
            <a:avLst/>
          </a:prstGeom>
          <a:solidFill>
            <a:srgbClr val="8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22376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0" y="3392424"/>
            <a:ext cx="4023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Alert Generation</a:t>
            </a:r>
            <a:endParaRPr lang="en-US" sz="1700" dirty="0"/>
          </a:p>
        </p:txBody>
      </p:sp>
      <p:sp>
        <p:nvSpPr>
          <p:cNvPr id="28" name="num9"/>
          <p:cNvSpPr/>
          <p:nvPr/>
        </p:nvSpPr>
        <p:spPr>
          <a:xfrm>
            <a:off x="7223760" y="4288536"/>
            <a:ext cx="502920" cy="50292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2376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863840" y="4288536"/>
            <a:ext cx="4023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Results and Live Demonstration</a:t>
            </a:r>
            <a:endParaRPr lang="en-US" sz="1700" dirty="0"/>
          </a:p>
        </p:txBody>
      </p:sp>
      <p:sp>
        <p:nvSpPr>
          <p:cNvPr id="31" name="num10"/>
          <p:cNvSpPr/>
          <p:nvPr/>
        </p:nvSpPr>
        <p:spPr>
          <a:xfrm>
            <a:off x="7223760" y="5184648"/>
            <a:ext cx="502920" cy="502920"/>
          </a:xfrm>
          <a:prstGeom prst="ellipse">
            <a:avLst/>
          </a:prstGeom>
          <a:solidFill>
            <a:srgbClr val="8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22376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0" y="5184648"/>
            <a:ext cx="4023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and References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 and Objectives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94360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slow down or fail when CPU time, memory, disk space or process slots run out. Linux publishes these measurements through /proc and system calls, but tools such as top, free and df only display them and need a person to watch.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 C monitoring program that samples CPU, memory, disk and process usage at a configurable interval, compares each value with user-defined thresholds and generates time-stamped ALERT and RECOVERED messages on the terminal and in a log file.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lightweight, dependency-free tool that gives early warning and shows how the kernel exposes resource usage.</a:t>
            </a:r>
            <a:endParaRPr lang="en-US" sz="1800" dirty="0"/>
          </a:p>
        </p:txBody>
      </p:sp>
      <p:sp>
        <p:nvSpPr>
          <p:cNvPr id="6" name="objectives card"/>
          <p:cNvSpPr/>
          <p:nvPr/>
        </p:nvSpPr>
        <p:spPr>
          <a:xfrm>
            <a:off x="6858000" y="1188720"/>
            <a:ext cx="4800600" cy="4983480"/>
          </a:xfrm>
          <a:prstGeom prst="roundRect">
            <a:avLst>
              <a:gd name="adj" fmla="val 1143"/>
            </a:avLst>
          </a:prstGeom>
          <a:solidFill>
            <a:srgbClr val="FDF0F0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0" y="128016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1737360"/>
            <a:ext cx="4434840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Linux reports CPU, memory, disk and process data</a:t>
            </a:r>
            <a:endParaRPr lang="en-US" sz="170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four resources at a configurable interval</a:t>
            </a:r>
            <a:endParaRPr lang="en-US" sz="170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thresholds via options or a config file</a:t>
            </a:r>
            <a:endParaRPr lang="en-US" sz="170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Time-stamped alerts, recovery notices, no alert flooding</a:t>
            </a:r>
            <a:endParaRPr lang="en-US" sz="170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samples, alerts and errors; handle bad input safely</a:t>
            </a:r>
            <a:endParaRPr lang="en-US" sz="1700" dirty="0"/>
          </a:p>
          <a:p>
            <a:pPr algn="l" marL="228600" indent="-2286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CPU, memory, disk and process load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and Problem Statement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603504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machine depends on four basic resources: CPU, memory, disk space and processes.</a:t>
            </a:r>
            <a:endParaRPr lang="en-US" sz="19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is exhausted, programs slow down, fail to save data, or get killed.</a:t>
            </a:r>
            <a:endParaRPr lang="en-US" sz="19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kernel already counts all of them and publishes the counters in /proc and via statvfs().</a:t>
            </a:r>
            <a:endParaRPr lang="en-US" sz="19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need to be told as soon as a resource crosses a safe limit — without watching a screen.</a:t>
            </a:r>
            <a:endParaRPr lang="en-US" sz="1900" dirty="0"/>
          </a:p>
        </p:txBody>
      </p:sp>
      <p:sp>
        <p:nvSpPr>
          <p:cNvPr id="6" name="problem card"/>
          <p:cNvSpPr/>
          <p:nvPr/>
        </p:nvSpPr>
        <p:spPr>
          <a:xfrm>
            <a:off x="6949440" y="1188720"/>
            <a:ext cx="4709160" cy="4297680"/>
          </a:xfrm>
          <a:prstGeom prst="roundRect">
            <a:avLst>
              <a:gd name="adj" fmla="val 1277"/>
            </a:avLst>
          </a:prstGeom>
          <a:solidFill>
            <a:srgbClr val="FDF0F0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0" y="1280160"/>
            <a:ext cx="43891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1737360"/>
            <a:ext cx="43434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top, vmstat, free and df show current usage but do not decide whether it is a problem, and large monitoring suites are heavy to install. Design a lightweight system, using only standard Linux interfaces, that tracks CPU, memory, disk and process usage and automatically generates alerts when user-defined thresholds are exceeded.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5669280"/>
            <a:ext cx="4709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project: OSSP (25CS2104E), 2026-27 Term-I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and Limitations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474720"/>
                <a:gridCol w="4526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offers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top, htop, vmstat, free, df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view of CPU, memory, disk and processes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person must keep watching; no thresholds, no history of when a problem began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scripts + cron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checks, e-mail on failure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Fragile text parsing; a new process per check; hard to find the busiest process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suites (Nagios, Zabbix, Prometheus)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Dashboards, history, many alert channels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server, agents and a database; heavy for a lab or small machine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/>
          <p:cNvSpPr/>
          <p:nvPr/>
        </p:nvSpPr>
        <p:spPr>
          <a:xfrm>
            <a:off x="548640" y="4754880"/>
            <a:ext cx="11109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4800600"/>
            <a:ext cx="107442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algn="l" indent="0" marL="0"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tool combines automatic threshold checking, recovery reporting and a log, in a single small program that also teaches the underlying OS concepts.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 and Features</a:t>
            </a:r>
            <a:endParaRPr lang="en-US" sz="2400" dirty="0"/>
          </a:p>
        </p:txBody>
      </p:sp>
      <p:sp>
        <p:nvSpPr>
          <p:cNvPr id="4" name="feature 1"/>
          <p:cNvSpPr/>
          <p:nvPr/>
        </p:nvSpPr>
        <p:spPr>
          <a:xfrm>
            <a:off x="548640" y="1280160"/>
            <a:ext cx="3566160" cy="2240280"/>
          </a:xfrm>
          <a:prstGeom prst="roundRect">
            <a:avLst>
              <a:gd name="adj" fmla="val 2449"/>
            </a:avLst>
          </a:prstGeom>
          <a:solidFill>
            <a:srgbClr val="FDF0F0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5" name="fnum0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Configurable thresholds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03120"/>
            <a:ext cx="32004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disk, busiest process and process count; set by options or alert.conf</a:t>
            </a:r>
            <a:endParaRPr lang="en-US" sz="1500" dirty="0"/>
          </a:p>
        </p:txBody>
      </p:sp>
      <p:sp>
        <p:nvSpPr>
          <p:cNvPr id="9" name="feature 2"/>
          <p:cNvSpPr/>
          <p:nvPr/>
        </p:nvSpPr>
        <p:spPr>
          <a:xfrm>
            <a:off x="4297680" y="1280160"/>
            <a:ext cx="3566160" cy="2240280"/>
          </a:xfrm>
          <a:prstGeom prst="roundRect">
            <a:avLst>
              <a:gd name="adj" fmla="val 2449"/>
            </a:avLst>
          </a:prstGeom>
          <a:solidFill>
            <a:srgbClr val="FDF0F0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10" name="fnum1"/>
          <p:cNvSpPr/>
          <p:nvPr/>
        </p:nvSpPr>
        <p:spPr>
          <a:xfrm>
            <a:off x="4480560" y="146304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805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resource monitors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103120"/>
            <a:ext cx="32004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/proc/stat, /proc/meminfo, statvfs() and /proc/[pid]/stat</a:t>
            </a:r>
            <a:endParaRPr lang="en-US" sz="1500" dirty="0"/>
          </a:p>
        </p:txBody>
      </p:sp>
      <p:sp>
        <p:nvSpPr>
          <p:cNvPr id="14" name="feature 3"/>
          <p:cNvSpPr/>
          <p:nvPr/>
        </p:nvSpPr>
        <p:spPr>
          <a:xfrm>
            <a:off x="8046720" y="1280160"/>
            <a:ext cx="3566160" cy="2240280"/>
          </a:xfrm>
          <a:prstGeom prst="roundRect">
            <a:avLst>
              <a:gd name="adj" fmla="val 2449"/>
            </a:avLst>
          </a:prstGeom>
          <a:solidFill>
            <a:srgbClr val="FDF0F0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15" name="fnum2"/>
          <p:cNvSpPr/>
          <p:nvPr/>
        </p:nvSpPr>
        <p:spPr>
          <a:xfrm>
            <a:off x="8229600" y="146304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once per incident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2103120"/>
            <a:ext cx="32004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is raised when a value crosses its limit, not on every sample</a:t>
            </a:r>
            <a:endParaRPr lang="en-US" sz="1500" dirty="0"/>
          </a:p>
        </p:txBody>
      </p:sp>
      <p:sp>
        <p:nvSpPr>
          <p:cNvPr id="19" name="feature 4"/>
          <p:cNvSpPr/>
          <p:nvPr/>
        </p:nvSpPr>
        <p:spPr>
          <a:xfrm>
            <a:off x="548640" y="3749040"/>
            <a:ext cx="3566160" cy="2240280"/>
          </a:xfrm>
          <a:prstGeom prst="roundRect">
            <a:avLst>
              <a:gd name="adj" fmla="val 2449"/>
            </a:avLst>
          </a:prstGeom>
          <a:solidFill>
            <a:srgbClr val="FDF0F0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20" name="fnum3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 notices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4572000"/>
            <a:ext cx="32004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message when the value returns below the threshold</a:t>
            </a:r>
            <a:endParaRPr lang="en-US" sz="1500" dirty="0"/>
          </a:p>
        </p:txBody>
      </p:sp>
      <p:sp>
        <p:nvSpPr>
          <p:cNvPr id="24" name="feature 5"/>
          <p:cNvSpPr/>
          <p:nvPr/>
        </p:nvSpPr>
        <p:spPr>
          <a:xfrm>
            <a:off x="4297680" y="3749040"/>
            <a:ext cx="3566160" cy="2240280"/>
          </a:xfrm>
          <a:prstGeom prst="roundRect">
            <a:avLst>
              <a:gd name="adj" fmla="val 2449"/>
            </a:avLst>
          </a:prstGeom>
          <a:solidFill>
            <a:srgbClr val="FDF0F0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25" name="fnum4"/>
          <p:cNvSpPr/>
          <p:nvPr/>
        </p:nvSpPr>
        <p:spPr>
          <a:xfrm>
            <a:off x="4480560" y="393192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805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07492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Time-stamped log file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480560" y="4572000"/>
            <a:ext cx="32004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Samples, alerts, recoveries and errors recorded in sysmon.log</a:t>
            </a:r>
            <a:endParaRPr lang="en-US" sz="1500" dirty="0"/>
          </a:p>
        </p:txBody>
      </p:sp>
      <p:sp>
        <p:nvSpPr>
          <p:cNvPr id="29" name="feature 6"/>
          <p:cNvSpPr/>
          <p:nvPr/>
        </p:nvSpPr>
        <p:spPr>
          <a:xfrm>
            <a:off x="8046720" y="3749040"/>
            <a:ext cx="3566160" cy="2240280"/>
          </a:xfrm>
          <a:prstGeom prst="roundRect">
            <a:avLst>
              <a:gd name="adj" fmla="val 2449"/>
            </a:avLst>
          </a:prstGeom>
          <a:solidFill>
            <a:srgbClr val="FDF0F0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30" name="fnum5"/>
          <p:cNvSpPr/>
          <p:nvPr/>
        </p:nvSpPr>
        <p:spPr>
          <a:xfrm>
            <a:off x="8229600" y="393192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82396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 error handling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0" y="4572000"/>
            <a:ext cx="32004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options, missing files and bad paths reported without crashing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arch User / Administrator — options and alert.conf"/>
          <p:cNvSpPr/>
          <p:nvPr/>
        </p:nvSpPr>
        <p:spPr>
          <a:xfrm>
            <a:off x="3840480" y="1143000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FFF2CC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840480" y="1143000"/>
            <a:ext cx="44805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/ Administrator — options and alert.conf</a:t>
            </a:r>
            <a:endParaRPr lang="en-US" sz="1400" dirty="0"/>
          </a:p>
        </p:txBody>
      </p:sp>
      <p:sp>
        <p:nvSpPr>
          <p:cNvPr id="6" name="arch Configuration Module"/>
          <p:cNvSpPr/>
          <p:nvPr/>
        </p:nvSpPr>
        <p:spPr>
          <a:xfrm>
            <a:off x="548640" y="210312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E8EEF9"/>
          </a:solidFill>
          <a:ln w="15875">
            <a:solidFill>
              <a:srgbClr val="3C5A9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103120"/>
            <a:ext cx="27432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Module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alert.conf, parse options,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thresholds</a:t>
            </a:r>
            <a:endParaRPr lang="en-US" sz="1300" dirty="0"/>
          </a:p>
        </p:txBody>
      </p:sp>
      <p:sp>
        <p:nvSpPr>
          <p:cNvPr id="8" name="arch sysmon Monitoring Engine (C)"/>
          <p:cNvSpPr/>
          <p:nvPr/>
        </p:nvSpPr>
        <p:spPr>
          <a:xfrm>
            <a:off x="3840480" y="2103120"/>
            <a:ext cx="4480560" cy="1097280"/>
          </a:xfrm>
          <a:prstGeom prst="roundRect">
            <a:avLst>
              <a:gd name="adj" fmla="val 5000"/>
            </a:avLst>
          </a:prstGeom>
          <a:solidFill>
            <a:srgbClr val="E8EEF9"/>
          </a:solidFill>
          <a:ln w="15875">
            <a:solidFill>
              <a:srgbClr val="3C5A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40480" y="2103120"/>
            <a:ext cx="44805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sysmon Monitoring Engine (C)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 → collect → compare → alert</a:t>
            </a:r>
            <a:endParaRPr lang="en-US" sz="1400" dirty="0"/>
          </a:p>
        </p:txBody>
      </p:sp>
      <p:sp>
        <p:nvSpPr>
          <p:cNvPr id="10" name="arch Alert and Notification"/>
          <p:cNvSpPr/>
          <p:nvPr/>
        </p:nvSpPr>
        <p:spPr>
          <a:xfrm>
            <a:off x="8869680" y="2103120"/>
            <a:ext cx="2788920" cy="1097280"/>
          </a:xfrm>
          <a:prstGeom prst="roundRect">
            <a:avLst>
              <a:gd name="adj" fmla="val 5000"/>
            </a:avLst>
          </a:prstGeom>
          <a:solidFill>
            <a:srgbClr val="F9DCD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69680" y="2103120"/>
            <a:ext cx="27889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and Notification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console message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sysmon.log entry</a:t>
            </a:r>
            <a:endParaRPr lang="en-US" sz="1300" dirty="0"/>
          </a:p>
        </p:txBody>
      </p:sp>
      <p:sp>
        <p:nvSpPr>
          <p:cNvPr id="12" name="arch Threshold Checker — value &gt; limit ?   OK → ALERT → RECOVERED"/>
          <p:cNvSpPr/>
          <p:nvPr/>
        </p:nvSpPr>
        <p:spPr>
          <a:xfrm>
            <a:off x="548640" y="3611880"/>
            <a:ext cx="11109960" cy="640080"/>
          </a:xfrm>
          <a:prstGeom prst="roundRect">
            <a:avLst>
              <a:gd name="adj" fmla="val 8571"/>
            </a:avLst>
          </a:prstGeom>
          <a:solidFill>
            <a:srgbClr val="F9DCD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611880"/>
            <a:ext cx="11109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Threshold Checker — value &gt; limit ?   OK → ALERT → RECOVERED</a:t>
            </a:r>
            <a:endParaRPr lang="en-US" sz="1400" dirty="0"/>
          </a:p>
        </p:txBody>
      </p:sp>
      <p:sp>
        <p:nvSpPr>
          <p:cNvPr id="14" name="arch CPU Monitor"/>
          <p:cNvSpPr/>
          <p:nvPr/>
        </p:nvSpPr>
        <p:spPr>
          <a:xfrm>
            <a:off x="548640" y="46634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E6F2E3"/>
          </a:solidFill>
          <a:ln w="15875">
            <a:solidFill>
              <a:srgbClr val="4B8B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663440"/>
            <a:ext cx="26974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Monitor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/proc/stat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 flipV="1">
            <a:off x="1897380" y="4251960"/>
            <a:ext cx="0" cy="411480"/>
          </a:xfrm>
          <a:prstGeom prst="line">
            <a:avLst/>
          </a:prstGeom>
          <a:noFill/>
          <a:ln w="22225">
            <a:solidFill>
              <a:srgbClr val="2F6B2F"/>
            </a:solidFill>
            <a:prstDash val="solid"/>
            <a:tailEnd type="triangle"/>
          </a:ln>
        </p:spPr>
      </p:sp>
      <p:sp>
        <p:nvSpPr>
          <p:cNvPr id="17" name="arrow"/>
          <p:cNvSpPr/>
          <p:nvPr/>
        </p:nvSpPr>
        <p:spPr>
          <a:xfrm flipV="1">
            <a:off x="1897380" y="5440680"/>
            <a:ext cx="0" cy="36576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" name="arch Memory Monitor"/>
          <p:cNvSpPr/>
          <p:nvPr/>
        </p:nvSpPr>
        <p:spPr>
          <a:xfrm>
            <a:off x="3383280" y="46634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E6F2E3"/>
          </a:solidFill>
          <a:ln w="15875">
            <a:solidFill>
              <a:srgbClr val="4B8B3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83280" y="4663440"/>
            <a:ext cx="26974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Monitor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/proc/meminfo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 flipV="1">
            <a:off x="4732020" y="4251960"/>
            <a:ext cx="0" cy="411480"/>
          </a:xfrm>
          <a:prstGeom prst="line">
            <a:avLst/>
          </a:prstGeom>
          <a:noFill/>
          <a:ln w="22225">
            <a:solidFill>
              <a:srgbClr val="2F6B2F"/>
            </a:solidFill>
            <a:prstDash val="solid"/>
            <a:tailEnd type="triangle"/>
          </a:ln>
        </p:spPr>
      </p:sp>
      <p:sp>
        <p:nvSpPr>
          <p:cNvPr id="21" name="arrow"/>
          <p:cNvSpPr/>
          <p:nvPr/>
        </p:nvSpPr>
        <p:spPr>
          <a:xfrm flipV="1">
            <a:off x="4732020" y="5440680"/>
            <a:ext cx="0" cy="36576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2" name="arch Disk Monitor"/>
          <p:cNvSpPr/>
          <p:nvPr/>
        </p:nvSpPr>
        <p:spPr>
          <a:xfrm>
            <a:off x="6217920" y="46634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E6F2E3"/>
          </a:solidFill>
          <a:ln w="15875">
            <a:solidFill>
              <a:srgbClr val="4B8B3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4663440"/>
            <a:ext cx="26974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Monitor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statvfs()</a:t>
            </a:r>
            <a:endParaRPr lang="en-US" sz="1400" dirty="0"/>
          </a:p>
        </p:txBody>
      </p:sp>
      <p:sp>
        <p:nvSpPr>
          <p:cNvPr id="24" name="arrow"/>
          <p:cNvSpPr/>
          <p:nvPr/>
        </p:nvSpPr>
        <p:spPr>
          <a:xfrm flipV="1">
            <a:off x="7566660" y="4251960"/>
            <a:ext cx="0" cy="411480"/>
          </a:xfrm>
          <a:prstGeom prst="line">
            <a:avLst/>
          </a:prstGeom>
          <a:noFill/>
          <a:ln w="22225">
            <a:solidFill>
              <a:srgbClr val="2F6B2F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 flipV="1">
            <a:off x="7566660" y="5440680"/>
            <a:ext cx="0" cy="36576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6" name="arch Process Monitor"/>
          <p:cNvSpPr/>
          <p:nvPr/>
        </p:nvSpPr>
        <p:spPr>
          <a:xfrm>
            <a:off x="9052560" y="46634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E6F2E3"/>
          </a:solidFill>
          <a:ln w="15875">
            <a:solidFill>
              <a:srgbClr val="4B8B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52560" y="4663440"/>
            <a:ext cx="26974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/proc/[pid]/stat</a:t>
            </a:r>
            <a:endParaRPr lang="en-US" sz="1400" dirty="0"/>
          </a:p>
        </p:txBody>
      </p:sp>
      <p:sp>
        <p:nvSpPr>
          <p:cNvPr id="28" name="arrow"/>
          <p:cNvSpPr/>
          <p:nvPr/>
        </p:nvSpPr>
        <p:spPr>
          <a:xfrm flipV="1">
            <a:off x="10401300" y="4251960"/>
            <a:ext cx="0" cy="411480"/>
          </a:xfrm>
          <a:prstGeom prst="line">
            <a:avLst/>
          </a:prstGeom>
          <a:noFill/>
          <a:ln w="22225">
            <a:solidFill>
              <a:srgbClr val="2F6B2F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 flipV="1">
            <a:off x="10401300" y="5440680"/>
            <a:ext cx="0" cy="36576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0" name="arch Linux kernel — /proc filesystem, statvfs() system call, sysconf()"/>
          <p:cNvSpPr/>
          <p:nvPr/>
        </p:nvSpPr>
        <p:spPr>
          <a:xfrm>
            <a:off x="548640" y="5806440"/>
            <a:ext cx="11109960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8C4A4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5806440"/>
            <a:ext cx="11109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Linux kernel — /proc filesystem, statvfs() system call, sysconf()</a:t>
            </a:r>
            <a:endParaRPr lang="en-US" sz="1400" dirty="0"/>
          </a:p>
        </p:txBody>
      </p:sp>
      <p:sp>
        <p:nvSpPr>
          <p:cNvPr id="32" name="arrow"/>
          <p:cNvSpPr/>
          <p:nvPr/>
        </p:nvSpPr>
        <p:spPr>
          <a:xfrm>
            <a:off x="6080760" y="1737360"/>
            <a:ext cx="0" cy="36576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>
            <a:off x="3291840" y="2651760"/>
            <a:ext cx="548640" cy="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4" name="arrow"/>
          <p:cNvSpPr/>
          <p:nvPr/>
        </p:nvSpPr>
        <p:spPr>
          <a:xfrm>
            <a:off x="8321040" y="2651760"/>
            <a:ext cx="548640" cy="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5" name="arrow"/>
          <p:cNvSpPr/>
          <p:nvPr/>
        </p:nvSpPr>
        <p:spPr>
          <a:xfrm>
            <a:off x="6080760" y="3200400"/>
            <a:ext cx="0" cy="41148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36" name="arrow"/>
          <p:cNvSpPr/>
          <p:nvPr/>
        </p:nvSpPr>
        <p:spPr>
          <a:xfrm flipV="1">
            <a:off x="10241280" y="3200400"/>
            <a:ext cx="0" cy="41148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 / Flowchart</a:t>
            </a:r>
            <a:endParaRPr lang="en-US" sz="2400" dirty="0"/>
          </a:p>
        </p:txBody>
      </p:sp>
      <p:sp>
        <p:nvSpPr>
          <p:cNvPr id="4" name="step 1"/>
          <p:cNvSpPr/>
          <p:nvPr/>
        </p:nvSpPr>
        <p:spPr>
          <a:xfrm>
            <a:off x="548640" y="1280160"/>
            <a:ext cx="1645920" cy="2148840"/>
          </a:xfrm>
          <a:prstGeom prst="roundRect">
            <a:avLst>
              <a:gd name="adj" fmla="val 4444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stepnum0"/>
          <p:cNvSpPr/>
          <p:nvPr/>
        </p:nvSpPr>
        <p:spPr>
          <a:xfrm>
            <a:off x="1143000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31720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options, load alert.conf, validate</a:t>
            </a:r>
            <a:endParaRPr lang="en-US" sz="1400" dirty="0"/>
          </a:p>
        </p:txBody>
      </p:sp>
      <p:sp>
        <p:nvSpPr>
          <p:cNvPr id="9" name="chev0"/>
          <p:cNvSpPr/>
          <p:nvPr/>
        </p:nvSpPr>
        <p:spPr>
          <a:xfrm>
            <a:off x="2212848" y="2194560"/>
            <a:ext cx="182880" cy="274320"/>
          </a:xfrm>
          <a:prstGeom prst="right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2423160" y="1280160"/>
            <a:ext cx="1645920" cy="2148840"/>
          </a:xfrm>
          <a:prstGeom prst="roundRect">
            <a:avLst>
              <a:gd name="adj" fmla="val 4444"/>
            </a:avLst>
          </a:prstGeom>
          <a:solidFill>
            <a:srgbClr val="8C0000"/>
          </a:solidFill>
          <a:ln w="12700">
            <a:solidFill>
              <a:srgbClr val="8C0000"/>
            </a:solidFill>
            <a:prstDash val="solid"/>
          </a:ln>
        </p:spPr>
      </p:sp>
      <p:sp>
        <p:nvSpPr>
          <p:cNvPr id="11" name="stepnum1"/>
          <p:cNvSpPr/>
          <p:nvPr/>
        </p:nvSpPr>
        <p:spPr>
          <a:xfrm>
            <a:off x="3017520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17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2514600" y="2331720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/proc/stat and per-process ticks</a:t>
            </a:r>
            <a:endParaRPr lang="en-US" sz="1400" dirty="0"/>
          </a:p>
        </p:txBody>
      </p:sp>
      <p:sp>
        <p:nvSpPr>
          <p:cNvPr id="15" name="chev1"/>
          <p:cNvSpPr/>
          <p:nvPr/>
        </p:nvSpPr>
        <p:spPr>
          <a:xfrm>
            <a:off x="4087368" y="2194560"/>
            <a:ext cx="182880" cy="274320"/>
          </a:xfrm>
          <a:prstGeom prst="right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6" name="step 3"/>
          <p:cNvSpPr/>
          <p:nvPr/>
        </p:nvSpPr>
        <p:spPr>
          <a:xfrm>
            <a:off x="4297680" y="1280160"/>
            <a:ext cx="1645920" cy="2148840"/>
          </a:xfrm>
          <a:prstGeom prst="roundRect">
            <a:avLst>
              <a:gd name="adj" fmla="val 4444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stepnum2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34340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389120" y="2331720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sampling interval</a:t>
            </a:r>
            <a:endParaRPr lang="en-US" sz="1400" dirty="0"/>
          </a:p>
        </p:txBody>
      </p:sp>
      <p:sp>
        <p:nvSpPr>
          <p:cNvPr id="21" name="chev2"/>
          <p:cNvSpPr/>
          <p:nvPr/>
        </p:nvSpPr>
        <p:spPr>
          <a:xfrm>
            <a:off x="5961888" y="2194560"/>
            <a:ext cx="182880" cy="274320"/>
          </a:xfrm>
          <a:prstGeom prst="right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2" name="step 4"/>
          <p:cNvSpPr/>
          <p:nvPr/>
        </p:nvSpPr>
        <p:spPr>
          <a:xfrm>
            <a:off x="6172200" y="1280160"/>
            <a:ext cx="1645920" cy="2148840"/>
          </a:xfrm>
          <a:prstGeom prst="roundRect">
            <a:avLst>
              <a:gd name="adj" fmla="val 4444"/>
            </a:avLst>
          </a:prstGeom>
          <a:solidFill>
            <a:srgbClr val="8C0000"/>
          </a:solidFill>
          <a:ln w="12700">
            <a:solidFill>
              <a:srgbClr val="8C0000"/>
            </a:solidFill>
            <a:prstDash val="solid"/>
          </a:ln>
        </p:spPr>
      </p:sp>
      <p:sp>
        <p:nvSpPr>
          <p:cNvPr id="23" name="stepnum3"/>
          <p:cNvSpPr/>
          <p:nvPr/>
        </p:nvSpPr>
        <p:spPr>
          <a:xfrm>
            <a:off x="6766560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665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6263640" y="2331720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disk, processes</a:t>
            </a:r>
            <a:endParaRPr lang="en-US" sz="1400" dirty="0"/>
          </a:p>
        </p:txBody>
      </p:sp>
      <p:sp>
        <p:nvSpPr>
          <p:cNvPr id="27" name="chev3"/>
          <p:cNvSpPr/>
          <p:nvPr/>
        </p:nvSpPr>
        <p:spPr>
          <a:xfrm>
            <a:off x="7836408" y="2194560"/>
            <a:ext cx="182880" cy="274320"/>
          </a:xfrm>
          <a:prstGeom prst="right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8" name="step 5"/>
          <p:cNvSpPr/>
          <p:nvPr/>
        </p:nvSpPr>
        <p:spPr>
          <a:xfrm>
            <a:off x="8046720" y="1280160"/>
            <a:ext cx="1645920" cy="2148840"/>
          </a:xfrm>
          <a:prstGeom prst="roundRect">
            <a:avLst>
              <a:gd name="adj" fmla="val 4444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stepnum4"/>
          <p:cNvSpPr/>
          <p:nvPr/>
        </p:nvSpPr>
        <p:spPr>
          <a:xfrm>
            <a:off x="8641080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41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09244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8138160" y="2331720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&gt; threshold for each metric?</a:t>
            </a:r>
            <a:endParaRPr lang="en-US" sz="1400" dirty="0"/>
          </a:p>
        </p:txBody>
      </p:sp>
      <p:sp>
        <p:nvSpPr>
          <p:cNvPr id="33" name="chev4"/>
          <p:cNvSpPr/>
          <p:nvPr/>
        </p:nvSpPr>
        <p:spPr>
          <a:xfrm>
            <a:off x="9710928" y="2194560"/>
            <a:ext cx="182880" cy="274320"/>
          </a:xfrm>
          <a:prstGeom prst="right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4" name="step 6"/>
          <p:cNvSpPr/>
          <p:nvPr/>
        </p:nvSpPr>
        <p:spPr>
          <a:xfrm>
            <a:off x="9921240" y="1280160"/>
            <a:ext cx="1645920" cy="2148840"/>
          </a:xfrm>
          <a:prstGeom prst="roundRect">
            <a:avLst>
              <a:gd name="adj" fmla="val 4444"/>
            </a:avLst>
          </a:prstGeom>
          <a:solidFill>
            <a:srgbClr val="8C0000"/>
          </a:solidFill>
          <a:ln w="12700">
            <a:solidFill>
              <a:srgbClr val="8C0000"/>
            </a:solidFill>
            <a:prstDash val="solid"/>
          </a:ln>
        </p:spPr>
      </p:sp>
      <p:sp>
        <p:nvSpPr>
          <p:cNvPr id="35" name="stepnum5"/>
          <p:cNvSpPr/>
          <p:nvPr/>
        </p:nvSpPr>
        <p:spPr>
          <a:xfrm>
            <a:off x="10515600" y="14173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515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96696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Notify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10012680" y="2331720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and log ALERT / RECOVERED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3566160"/>
            <a:ext cx="11109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repeats until the sample count is reached or the user presses Ctrl+C; the program then logs a stop message and closes the log.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state machine (per metric)</a:t>
            </a:r>
            <a:endParaRPr lang="en-US" sz="1800" dirty="0"/>
          </a:p>
        </p:txBody>
      </p:sp>
      <p:sp>
        <p:nvSpPr>
          <p:cNvPr id="41" name="state OK"/>
          <p:cNvSpPr/>
          <p:nvPr/>
        </p:nvSpPr>
        <p:spPr>
          <a:xfrm>
            <a:off x="1097280" y="470916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E6F2E3"/>
          </a:solidFill>
          <a:ln w="19050">
            <a:solidFill>
              <a:srgbClr val="2F6B2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97280" y="4709160"/>
            <a:ext cx="2286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OK</a:t>
            </a:r>
            <a:endParaRPr lang="en-US" sz="2000" dirty="0"/>
          </a:p>
        </p:txBody>
      </p:sp>
      <p:sp>
        <p:nvSpPr>
          <p:cNvPr id="43" name="state ALERT"/>
          <p:cNvSpPr/>
          <p:nvPr/>
        </p:nvSpPr>
        <p:spPr>
          <a:xfrm>
            <a:off x="4937760" y="470916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9DCD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937760" y="4709160"/>
            <a:ext cx="2286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</a:t>
            </a:r>
            <a:endParaRPr lang="en-US" sz="2000" dirty="0"/>
          </a:p>
        </p:txBody>
      </p:sp>
      <p:sp>
        <p:nvSpPr>
          <p:cNvPr id="45" name="to alert"/>
          <p:cNvSpPr/>
          <p:nvPr/>
        </p:nvSpPr>
        <p:spPr>
          <a:xfrm>
            <a:off x="3383280" y="4937760"/>
            <a:ext cx="155448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6" name="to ok"/>
          <p:cNvSpPr/>
          <p:nvPr/>
        </p:nvSpPr>
        <p:spPr>
          <a:xfrm flipH="1">
            <a:off x="3383280" y="5394960"/>
            <a:ext cx="1554480" cy="0"/>
          </a:xfrm>
          <a:prstGeom prst="line">
            <a:avLst/>
          </a:prstGeom>
          <a:noFill/>
          <a:ln w="25400">
            <a:solidFill>
              <a:srgbClr val="2F6B2F"/>
            </a:solidFill>
            <a:prstDash val="solid"/>
            <a:tailEnd type="triangle"/>
          </a:ln>
        </p:spPr>
      </p:sp>
      <p:sp>
        <p:nvSpPr>
          <p:cNvPr id="47" name="Text 44"/>
          <p:cNvSpPr txBox="1"/>
          <p:nvPr/>
        </p:nvSpPr>
        <p:spPr>
          <a:xfrm>
            <a:off x="320040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&gt; threshold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3200400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≤ threshold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7680960" y="4434840"/>
            <a:ext cx="40233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is printed only on the OK → ALERT change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is printed on the ALERT → OK change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repeated messages while the state is unchanged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Requirements and Technologies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092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 LTS or later (tested on 24.04), or Windows with WSL 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(GNU/POSIX interfaces) — no third-party libraries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 / Build Tools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(-Wall -Wextra -O2) and GNU Make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Interfaces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/proc/stat, /proc/meminfo, /proc/[pid]/stat, statvfs(), sysconf(), sigaction()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Tools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top, free, df (cross-checks); yes and python3 (CPU and memory load)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 Tools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GDB / Valgrind — optional, for debugging and memory analysis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/ GitHub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35040"/>
            <a:ext cx="11109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dual-core 64-bit CPU, 2 GB RAM (4 GB+ recommended for memory-alert tests), 1 GB free disk.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and Alert Generation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/proc/stat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(Δtotal − Δidle) / Δtotal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/proc/meminfo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(MemTotal − MemAvailable) / MemTotal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statvfs()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used / (used + available)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/proc/[pid]/stat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Δ(utime+stime) of each pid; largest = busiest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480560"/>
            <a:ext cx="67665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Thresholds: defaults 80 / 80 / 90 / 70 %, process limit 1000 — all configurable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only on a state change; log file keeps every sample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(bad path, unreadable file) are logged and monitoring continues</a:t>
            </a:r>
            <a:endParaRPr lang="en-US" sz="1600" dirty="0"/>
          </a:p>
        </p:txBody>
      </p:sp>
      <p:sp>
        <p:nvSpPr>
          <p:cNvPr id="6" name="terminal"/>
          <p:cNvSpPr/>
          <p:nvPr/>
        </p:nvSpPr>
        <p:spPr>
          <a:xfrm>
            <a:off x="7589520" y="1280160"/>
            <a:ext cx="4069080" cy="4892040"/>
          </a:xfrm>
          <a:prstGeom prst="roundRect">
            <a:avLst>
              <a:gd name="adj" fmla="val 1124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266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(real run)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726680" y="1737360"/>
            <a:ext cx="384048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[ALERT] CPU usage 100.0%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exceeds threshold 50.0%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[ALERT] PROCESS usage 99.0%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exceeds threshold 30.0% -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 'yes' (pid 628,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RSS 1448 KB)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[ALERT] MEMORY usage 57.4%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exceeds threshold 40.0%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(3417 MB available of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8029 MB)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[RECOVERED] CPU usage back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37.0% (threshold 40.0%)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Execution Results and Live Demonstration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results (development machine)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943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run, no alerts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+ busiest-process alert (2 × yes)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Alert, then RECOVERED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alert (4 GB held)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and process-count alerts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option / missing file / bad path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</a:tbl>
          </a:graphicData>
        </a:graphic>
      </p:graphicFrame>
      <p:sp>
        <p:nvSpPr>
          <p:cNvPr id="6" name="xcheck"/>
          <p:cNvSpPr/>
          <p:nvPr/>
        </p:nvSpPr>
        <p:spPr>
          <a:xfrm>
            <a:off x="548640" y="5166360"/>
            <a:ext cx="5943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85800" y="5212080"/>
            <a:ext cx="56692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Cross-check: 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30.7% vs df 31%; busiest process matches top. Screenshots: [insert on the team's machine].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8580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demonstration</a:t>
            </a:r>
            <a:endParaRPr lang="en-US" sz="1800" dirty="0"/>
          </a:p>
        </p:txBody>
      </p:sp>
      <p:sp>
        <p:nvSpPr>
          <p:cNvPr id="9" name="dn0"/>
          <p:cNvSpPr/>
          <p:nvPr/>
        </p:nvSpPr>
        <p:spPr>
          <a:xfrm>
            <a:off x="6858000" y="164592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45236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Compile: make</a:t>
            </a:r>
            <a:endParaRPr lang="en-US" sz="1700" dirty="0"/>
          </a:p>
        </p:txBody>
      </p:sp>
      <p:sp>
        <p:nvSpPr>
          <p:cNvPr id="12" name="dn1"/>
          <p:cNvSpPr/>
          <p:nvPr/>
        </p:nvSpPr>
        <p:spPr>
          <a:xfrm>
            <a:off x="6858000" y="2395728"/>
            <a:ext cx="457200" cy="457200"/>
          </a:xfrm>
          <a:prstGeom prst="ellipse">
            <a:avLst/>
          </a:prstGeom>
          <a:solidFill>
            <a:srgbClr val="8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395728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./sysmon -i 1 -c 40 -m 30</a:t>
            </a:r>
            <a:endParaRPr lang="en-US" sz="1700" dirty="0"/>
          </a:p>
        </p:txBody>
      </p:sp>
      <p:sp>
        <p:nvSpPr>
          <p:cNvPr id="15" name="dn2"/>
          <p:cNvSpPr/>
          <p:nvPr/>
        </p:nvSpPr>
        <p:spPr>
          <a:xfrm>
            <a:off x="6858000" y="3145536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452360" y="3145536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load: yes &gt; /dev/null &amp;</a:t>
            </a:r>
            <a:endParaRPr lang="en-US" sz="1700" dirty="0"/>
          </a:p>
        </p:txBody>
      </p:sp>
      <p:sp>
        <p:nvSpPr>
          <p:cNvPr id="18" name="dn3"/>
          <p:cNvSpPr/>
          <p:nvPr/>
        </p:nvSpPr>
        <p:spPr>
          <a:xfrm>
            <a:off x="6858000" y="3895344"/>
            <a:ext cx="457200" cy="457200"/>
          </a:xfrm>
          <a:prstGeom prst="ellipse">
            <a:avLst/>
          </a:prstGeom>
          <a:solidFill>
            <a:srgbClr val="8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7452360" y="3895344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ALERT (printed once)</a:t>
            </a:r>
            <a:endParaRPr lang="en-US" sz="1700" dirty="0"/>
          </a:p>
        </p:txBody>
      </p:sp>
      <p:sp>
        <p:nvSpPr>
          <p:cNvPr id="21" name="dn4"/>
          <p:cNvSpPr/>
          <p:nvPr/>
        </p:nvSpPr>
        <p:spPr>
          <a:xfrm>
            <a:off x="6858000" y="4645152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7452360" y="4645152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load: pkill yes</a:t>
            </a:r>
            <a:endParaRPr lang="en-US" sz="1700" dirty="0"/>
          </a:p>
        </p:txBody>
      </p:sp>
      <p:sp>
        <p:nvSpPr>
          <p:cNvPr id="24" name="dn5"/>
          <p:cNvSpPr/>
          <p:nvPr/>
        </p:nvSpPr>
        <p:spPr>
          <a:xfrm>
            <a:off x="6858000" y="5394960"/>
            <a:ext cx="457200" cy="457200"/>
          </a:xfrm>
          <a:prstGeom prst="ellipse">
            <a:avLst/>
          </a:prstGeom>
          <a:solidFill>
            <a:srgbClr val="8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7452360" y="53949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RECOVERED; show sysmon.log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Conclusion, Future Scope and References</a:t>
            </a:r>
            <a:endParaRPr lang="en-US" sz="2400" dirty="0"/>
          </a:p>
        </p:txBody>
      </p:sp>
      <p:sp>
        <p:nvSpPr>
          <p:cNvPr id="4" name="Conclusion card"/>
          <p:cNvSpPr/>
          <p:nvPr/>
        </p:nvSpPr>
        <p:spPr>
          <a:xfrm>
            <a:off x="548640" y="1188720"/>
            <a:ext cx="3611880" cy="5029200"/>
          </a:xfrm>
          <a:prstGeom prst="roundRect">
            <a:avLst>
              <a:gd name="adj" fmla="val 1519"/>
            </a:avLst>
          </a:prstGeom>
          <a:solidFill>
            <a:srgbClr val="FDF0F0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32918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 monitor for CPU, memory, disk and process usage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thresholds, ALERT / RECOVERED messages and a log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real load; alerts matched expectations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CPU accounting, virtual memory, file systems and processes</a:t>
            </a:r>
            <a:endParaRPr lang="en-US" sz="1600" dirty="0"/>
          </a:p>
        </p:txBody>
      </p:sp>
      <p:sp>
        <p:nvSpPr>
          <p:cNvPr id="7" name="Future Scope card"/>
          <p:cNvSpPr/>
          <p:nvPr/>
        </p:nvSpPr>
        <p:spPr>
          <a:xfrm>
            <a:off x="4297680" y="1188720"/>
            <a:ext cx="3611880" cy="5029200"/>
          </a:xfrm>
          <a:prstGeom prst="roundRect">
            <a:avLst>
              <a:gd name="adj" fmla="val 1519"/>
            </a:avLst>
          </a:prstGeom>
          <a:solidFill>
            <a:srgbClr val="FDF0F0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737360"/>
            <a:ext cx="32918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E-mail, SMS or desktop notifications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a systemd service; reload config on SIGHUP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/ critical levels and averaging over samples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swap, per-core and top-N process monitoring</a:t>
            </a:r>
            <a:endParaRPr lang="en-US" sz="1600" dirty="0"/>
          </a:p>
        </p:txBody>
      </p:sp>
      <p:sp>
        <p:nvSpPr>
          <p:cNvPr id="10" name="References card"/>
          <p:cNvSpPr/>
          <p:nvPr/>
        </p:nvSpPr>
        <p:spPr>
          <a:xfrm>
            <a:off x="8046720" y="1188720"/>
            <a:ext cx="3611880" cy="5029200"/>
          </a:xfrm>
          <a:prstGeom prst="roundRect">
            <a:avLst>
              <a:gd name="adj" fmla="val 1519"/>
            </a:avLst>
          </a:prstGeom>
          <a:solidFill>
            <a:srgbClr val="FDF0F0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1737360"/>
            <a:ext cx="32918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 et al., Operating System Concepts, 10th ed.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Kerrisk, The Linux Programming Interface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5 proc, man 3 statvfs (man7.org)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docs: docs.kernel.org/filesystems/proc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[link to be added]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U Red">
  <a:themeElements>
    <a:clrScheme name="KLU Red">
      <a:dk1>
        <a:srgbClr val="262626"/>
      </a:dk1>
      <a:lt1>
        <a:srgbClr val="FFFFFF"/>
      </a:lt1>
      <a:dk2>
        <a:srgbClr val="8C0000"/>
      </a:dk2>
      <a:lt2>
        <a:srgbClr val="FDF0F0"/>
      </a:lt2>
      <a:accent1>
        <a:srgbClr val="C00000"/>
      </a:accent1>
      <a:accent2>
        <a:srgbClr val="8C0000"/>
      </a:accent2>
      <a:accent3>
        <a:srgbClr val="0070C0"/>
      </a:accent3>
      <a:accent4>
        <a:srgbClr val="595959"/>
      </a:accent4>
      <a:accent5>
        <a:srgbClr val="E0C0C0"/>
      </a:accent5>
      <a:accent6>
        <a:srgbClr val="2F6B2F"/>
      </a:accent6>
      <a:hlink>
        <a:srgbClr val="0070C0"/>
      </a:hlink>
      <a:folHlink>
        <a:srgbClr val="595959"/>
      </a:folHlink>
    </a:clrScheme>
    <a:fontScheme name="KLU Red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Resource Alert and Notification System</dc:title>
  <dc:subject>PptxGenJS Presentation</dc:subject>
  <dc:creator>S. Ashwanth Reddy, P. Naveen, CH. Nripendra</dc:creator>
  <cp:lastModifiedBy>S. Ashwanth Reddy, P. Naveen, CH. Nripendra</cp:lastModifiedBy>
  <cp:revision>1</cp:revision>
  <dcterms:created xsi:type="dcterms:W3CDTF">2026-10-17T01:32:25Z</dcterms:created>
  <dcterms:modified xsi:type="dcterms:W3CDTF">2026-10-17T01:32:25Z</dcterms:modified>
</cp:coreProperties>
</file>